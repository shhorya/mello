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174fd02-5169-69d6-1daf-d69a4818c0c4}">
          <p14:sldIdLst>
            <p14:sldId id="256"/>
          </p14:sldIdLst>
        </p14:section>
        <p14:section name="Case" id="{5b8a898e-d97e-4955-4878-f628eb186cfa}">
          <p14:sldIdLst>
            <p14:sldId id="257"/>
            <p14:sldId id="258"/>
          </p14:sldIdLst>
        </p14:section>
        <p14:section name="Build" id="{34d2bdf3-cd08-b0eb-70bf-927dc1aa43a3}">
          <p14:sldIdLst>
            <p14:sldId id="259"/>
            <p14:sldId id="260"/>
          </p14:sldIdLst>
        </p14:section>
        <p14:section name="Plan" id="{e7e20ec4-501a-c147-3006-f339ebb5fa06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MannMitra: a voice-first AI agent for early mental distress check-ins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Helping India's informal workforce reach human support, in their own language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SDG 3: Good Health and Well-being  |  IBM SkillsBuild - AICTE - BharatCares (CSRBOX) ML &amp; Applied AI Internship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[Your Name], 3rd-year B.Tech CSE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Help exists, but most people never make the first call</a:t>
            </a:r>
            <a:endParaRPr lang="en-US" sz="2600" dirty="0"/>
          </a:p>
        </p:txBody>
      </p:sp>
      <p:sp>
        <p:nvSpPr>
          <p:cNvPr id="3" name="Card 0"/>
          <p:cNvSpPr/>
          <p:nvPr/>
        </p:nvSpPr>
        <p:spPr>
          <a:xfrm>
            <a:off x="548640" y="1371600"/>
            <a:ext cx="25603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ent 0"/>
          <p:cNvSpPr/>
          <p:nvPr/>
        </p:nvSpPr>
        <p:spPr>
          <a:xfrm>
            <a:off x="548640" y="1371600"/>
            <a:ext cx="25603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treatment gap for common mental disorders such as depression and anxiety (NMHS 2015-16)</a:t>
            </a:r>
            <a:endParaRPr lang="en-US" sz="1300" dirty="0"/>
          </a:p>
        </p:txBody>
      </p:sp>
      <p:sp>
        <p:nvSpPr>
          <p:cNvPr id="7" name="Card 1"/>
          <p:cNvSpPr/>
          <p:nvPr/>
        </p:nvSpPr>
        <p:spPr>
          <a:xfrm>
            <a:off x="3291840" y="1371600"/>
            <a:ext cx="25603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ccent 1"/>
          <p:cNvSpPr/>
          <p:nvPr/>
        </p:nvSpPr>
        <p:spPr>
          <a:xfrm>
            <a:off x="3291840" y="1371600"/>
            <a:ext cx="25603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~150M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Indians estimated to need mental healthcare (NMHS 2015-16)</a:t>
            </a:r>
            <a:endParaRPr lang="en-US" sz="1300" dirty="0"/>
          </a:p>
        </p:txBody>
      </p:sp>
      <p:sp>
        <p:nvSpPr>
          <p:cNvPr id="11" name="Card 2"/>
          <p:cNvSpPr/>
          <p:nvPr/>
        </p:nvSpPr>
        <p:spPr>
          <a:xfrm>
            <a:off x="6035040" y="1371600"/>
            <a:ext cx="25603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ccent 2"/>
          <p:cNvSpPr/>
          <p:nvPr/>
        </p:nvSpPr>
        <p:spPr>
          <a:xfrm>
            <a:off x="6035040" y="1371600"/>
            <a:ext cx="25603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14416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Tele-MANAS: free, 24x7, about 20 languages, but the user must call first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Informal workers (riders, domestic, construction, shop workers) have long hours, no HR support, stigma and little privacy. Text-heavy English apps do not fit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MannMitra: a caring voice that notices early and connects people to humans</a:t>
            </a:r>
            <a:endParaRPr lang="en-US" sz="2600" dirty="0"/>
          </a:p>
        </p:txBody>
      </p:sp>
      <p:sp>
        <p:nvSpPr>
          <p:cNvPr id="3" name="Step 0"/>
          <p:cNvSpPr/>
          <p:nvPr/>
        </p:nvSpPr>
        <p:spPr>
          <a:xfrm>
            <a:off x="548640" y="1371600"/>
            <a:ext cx="187452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bar 0"/>
          <p:cNvSpPr/>
          <p:nvPr/>
        </p:nvSpPr>
        <p:spPr>
          <a:xfrm>
            <a:off x="548640" y="1371600"/>
            <a:ext cx="18745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Check 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3-5 minute voice conversation each week, in Hindi first, then regional languages.</a:t>
            </a:r>
            <a:endParaRPr lang="en-US" sz="1300" dirty="0"/>
          </a:p>
        </p:txBody>
      </p:sp>
      <p:sp>
        <p:nvSpPr>
          <p:cNvPr id="7" name="Step 1"/>
          <p:cNvSpPr/>
          <p:nvPr/>
        </p:nvSpPr>
        <p:spPr>
          <a:xfrm>
            <a:off x="2606040" y="1371600"/>
            <a:ext cx="187452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bar 1"/>
          <p:cNvSpPr/>
          <p:nvPr/>
        </p:nvSpPr>
        <p:spPr>
          <a:xfrm>
            <a:off x="2606040" y="1371600"/>
            <a:ext cx="187452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Screen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PHQ-9 and GAD-7 style questions asked naturally and scored consistently.</a:t>
            </a:r>
            <a:endParaRPr lang="en-US" sz="1300" dirty="0"/>
          </a:p>
        </p:txBody>
      </p:sp>
      <p:sp>
        <p:nvSpPr>
          <p:cNvPr id="11" name="Step 2"/>
          <p:cNvSpPr/>
          <p:nvPr/>
        </p:nvSpPr>
        <p:spPr>
          <a:xfrm>
            <a:off x="4663440" y="1371600"/>
            <a:ext cx="187452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bar 2"/>
          <p:cNvSpPr/>
          <p:nvPr/>
        </p:nvSpPr>
        <p:spPr>
          <a:xfrm>
            <a:off x="4663440" y="1371600"/>
            <a:ext cx="187452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Tier the risk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Green: tips. Amber: guided coping and a nudge. Red: warm handoff to 14416.</a:t>
            </a:r>
            <a:endParaRPr lang="en-US" sz="1300" dirty="0"/>
          </a:p>
        </p:txBody>
      </p:sp>
      <p:sp>
        <p:nvSpPr>
          <p:cNvPr id="15" name="Step 3"/>
          <p:cNvSpPr/>
          <p:nvPr/>
        </p:nvSpPr>
        <p:spPr>
          <a:xfrm>
            <a:off x="6720840" y="1371600"/>
            <a:ext cx="187452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bar 3"/>
          <p:cNvSpPr/>
          <p:nvPr/>
        </p:nvSpPr>
        <p:spPr>
          <a:xfrm>
            <a:off x="6720840" y="1371600"/>
            <a:ext cx="18745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Support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1945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Grounded coping guidance, referral, and anonymized trends for NGO partners.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A screening and support tool, not a diagnostic or treatment tool.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Six specialist agents, grounded by RAG and a safety rule layer</a:t>
            </a:r>
            <a:endParaRPr lang="en-US" sz="2600" dirty="0"/>
          </a:p>
        </p:txBody>
      </p:sp>
      <p:sp>
        <p:nvSpPr>
          <p:cNvPr id="3" name="Agent 0"/>
          <p:cNvSpPr/>
          <p:nvPr/>
        </p:nvSpPr>
        <p:spPr>
          <a:xfrm>
            <a:off x="548640" y="132588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716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Check-in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talks in the user's language</a:t>
            </a:r>
            <a:endParaRPr lang="en-US" sz="1050" dirty="0"/>
          </a:p>
        </p:txBody>
      </p:sp>
      <p:sp>
        <p:nvSpPr>
          <p:cNvPr id="5" name="Arrow 0"/>
          <p:cNvSpPr/>
          <p:nvPr/>
        </p:nvSpPr>
        <p:spPr>
          <a:xfrm>
            <a:off x="2011680" y="1920240"/>
            <a:ext cx="1828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Agent 1"/>
          <p:cNvSpPr/>
          <p:nvPr/>
        </p:nvSpPr>
        <p:spPr>
          <a:xfrm>
            <a:off x="2194560" y="132588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67712" y="13716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Screening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scores PHQ-9 / GAD-7 style answers</a:t>
            </a:r>
            <a:endParaRPr lang="en-US" sz="1050" dirty="0"/>
          </a:p>
        </p:txBody>
      </p:sp>
      <p:sp>
        <p:nvSpPr>
          <p:cNvPr id="8" name="Arrow 1"/>
          <p:cNvSpPr/>
          <p:nvPr/>
        </p:nvSpPr>
        <p:spPr>
          <a:xfrm>
            <a:off x="3657600" y="1920240"/>
            <a:ext cx="1828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Agent 2"/>
          <p:cNvSpPr/>
          <p:nvPr/>
        </p:nvSpPr>
        <p:spPr>
          <a:xfrm>
            <a:off x="3840480" y="132588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13632" y="13716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Safety and Triage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rules override: crisis always escalates</a:t>
            </a:r>
            <a:endParaRPr lang="en-US" sz="1050" dirty="0"/>
          </a:p>
        </p:txBody>
      </p:sp>
      <p:sp>
        <p:nvSpPr>
          <p:cNvPr id="11" name="Arrow 2"/>
          <p:cNvSpPr/>
          <p:nvPr/>
        </p:nvSpPr>
        <p:spPr>
          <a:xfrm>
            <a:off x="5303520" y="1920240"/>
            <a:ext cx="1828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Agent 3"/>
          <p:cNvSpPr/>
          <p:nvPr/>
        </p:nvSpPr>
        <p:spPr>
          <a:xfrm>
            <a:off x="5486400" y="132588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59552" y="13716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Guidance (RAG) or Referral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vetted tips, Tele-MANAS</a:t>
            </a:r>
            <a:endParaRPr lang="en-US" sz="1050" dirty="0"/>
          </a:p>
        </p:txBody>
      </p:sp>
      <p:sp>
        <p:nvSpPr>
          <p:cNvPr id="14" name="Arrow 3"/>
          <p:cNvSpPr/>
          <p:nvPr/>
        </p:nvSpPr>
        <p:spPr>
          <a:xfrm>
            <a:off x="6949440" y="1920240"/>
            <a:ext cx="1828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Agent 4"/>
          <p:cNvSpPr/>
          <p:nvPr/>
        </p:nvSpPr>
        <p:spPr>
          <a:xfrm>
            <a:off x="7132320" y="1325880"/>
            <a:ext cx="14630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05472" y="13716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Insights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anonymized NGO dashboard</a:t>
            </a:r>
            <a:endParaRPr lang="en-US" sz="1050" dirty="0"/>
          </a:p>
        </p:txBody>
      </p:sp>
      <p:sp>
        <p:nvSpPr>
          <p:cNvPr id="17" name="Topic 0"/>
          <p:cNvSpPr/>
          <p:nvPr/>
        </p:nvSpPr>
        <p:spPr>
          <a:xfrm>
            <a:off x="548640" y="2834640"/>
            <a:ext cx="25603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opic bar 0"/>
          <p:cNvSpPr/>
          <p:nvPr/>
        </p:nvSpPr>
        <p:spPr>
          <a:xfrm>
            <a:off x="548640" y="283464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9077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AI fundamentals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risk classifier and NLP, judged on recall</a:t>
            </a:r>
            <a:endParaRPr lang="en-US" sz="1150" dirty="0"/>
          </a:p>
        </p:txBody>
      </p:sp>
      <p:sp>
        <p:nvSpPr>
          <p:cNvPr id="20" name="Topic 1"/>
          <p:cNvSpPr/>
          <p:nvPr/>
        </p:nvSpPr>
        <p:spPr>
          <a:xfrm>
            <a:off x="3291840" y="2834640"/>
            <a:ext cx="25603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opic bar 1"/>
          <p:cNvSpPr/>
          <p:nvPr/>
        </p:nvSpPr>
        <p:spPr>
          <a:xfrm>
            <a:off x="3291840" y="283464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29077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Generative AI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warm replies in simple language</a:t>
            </a:r>
            <a:endParaRPr lang="en-US" sz="1150" dirty="0"/>
          </a:p>
        </p:txBody>
      </p:sp>
      <p:sp>
        <p:nvSpPr>
          <p:cNvPr id="23" name="Topic 2"/>
          <p:cNvSpPr/>
          <p:nvPr/>
        </p:nvSpPr>
        <p:spPr>
          <a:xfrm>
            <a:off x="6035040" y="2834640"/>
            <a:ext cx="25603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opic bar 2"/>
          <p:cNvSpPr/>
          <p:nvPr/>
        </p:nvSpPr>
        <p:spPr>
          <a:xfrm>
            <a:off x="6035040" y="283464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9077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RAG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answers grounded in a vetted knowledge base</a:t>
            </a:r>
            <a:endParaRPr lang="en-US" sz="1150" dirty="0"/>
          </a:p>
        </p:txBody>
      </p:sp>
      <p:sp>
        <p:nvSpPr>
          <p:cNvPr id="26" name="Topic 3"/>
          <p:cNvSpPr/>
          <p:nvPr/>
        </p:nvSpPr>
        <p:spPr>
          <a:xfrm>
            <a:off x="548640" y="3703320"/>
            <a:ext cx="25603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opic bar 3"/>
          <p:cNvSpPr/>
          <p:nvPr/>
        </p:nvSpPr>
        <p:spPr>
          <a:xfrm>
            <a:off x="548640" y="370332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AI agents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tools: speech-to-text, scoring, retrieval, referral</a:t>
            </a:r>
            <a:endParaRPr lang="en-US" sz="1150" dirty="0"/>
          </a:p>
        </p:txBody>
      </p:sp>
      <p:sp>
        <p:nvSpPr>
          <p:cNvPr id="29" name="Topic 4"/>
          <p:cNvSpPr/>
          <p:nvPr/>
        </p:nvSpPr>
        <p:spPr>
          <a:xfrm>
            <a:off x="3291840" y="3703320"/>
            <a:ext cx="25603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opic bar 4"/>
          <p:cNvSpPr/>
          <p:nvPr/>
        </p:nvSpPr>
        <p:spPr>
          <a:xfrm>
            <a:off x="3291840" y="370332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Multi-agent systems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six specialists that hand work to each other</a:t>
            </a:r>
            <a:endParaRPr lang="en-US" sz="1150" dirty="0"/>
          </a:p>
        </p:txBody>
      </p:sp>
      <p:sp>
        <p:nvSpPr>
          <p:cNvPr id="32" name="Topic 5"/>
          <p:cNvSpPr/>
          <p:nvPr/>
        </p:nvSpPr>
        <p:spPr>
          <a:xfrm>
            <a:off x="6035040" y="3703320"/>
            <a:ext cx="256032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opic bar 5"/>
          <p:cNvSpPr/>
          <p:nvPr/>
        </p:nvSpPr>
        <p:spPr>
          <a:xfrm>
            <a:off x="6035040" y="370332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0" y="3776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Agentic AI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plans, remembers trends, escalates to humans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Safe by design, built for real impact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 AI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Voice consent before any data is stored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Transcripts discarded after scoring unless the user opts 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Rule layer decides risk, never the model alone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Human escalation for every Red case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Tested across dialects, accents and genders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Reviewed by a mental health professional before real use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Workers: a stigma-free first step, in their language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NGOs and CSR partners: early, anonymized trends to plan camps and counsellors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System: more people reaching existing services like Tele-MANAS, sooner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SDG 3 (Target 3.4), with links to SDG 8 and SDG 10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Lean Canvas at a glance: free for workers, funded by partners</a:t>
            </a:r>
            <a:endParaRPr lang="en-US" sz="2600" dirty="0"/>
          </a:p>
        </p:txBody>
      </p:sp>
      <p:sp>
        <p:nvSpPr>
          <p:cNvPr id="3" name="Canvas 0"/>
          <p:cNvSpPr/>
          <p:nvPr/>
        </p:nvSpPr>
        <p:spPr>
          <a:xfrm>
            <a:off x="548640" y="132588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nvas bar 0"/>
          <p:cNvSpPr/>
          <p:nvPr/>
        </p:nvSpPr>
        <p:spPr>
          <a:xfrm>
            <a:off x="548640" y="132588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Customers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Riders, domestic, construction and shop workers. Partners: NGOs, CSR programmes, gig platforms, health departments.</a:t>
            </a:r>
            <a:endParaRPr lang="en-US" sz="1250" dirty="0"/>
          </a:p>
        </p:txBody>
      </p:sp>
      <p:sp>
        <p:nvSpPr>
          <p:cNvPr id="6" name="Canvas 1"/>
          <p:cNvSpPr/>
          <p:nvPr/>
        </p:nvSpPr>
        <p:spPr>
          <a:xfrm>
            <a:off x="4663440" y="132588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nvas bar 1"/>
          <p:cNvSpPr/>
          <p:nvPr/>
        </p:nvSpPr>
        <p:spPr>
          <a:xfrm>
            <a:off x="4663440" y="132588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630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Early, stigma-free support in your language, with a real human one tap away.</a:t>
            </a:r>
            <a:endParaRPr lang="en-US" sz="1250" dirty="0"/>
          </a:p>
        </p:txBody>
      </p:sp>
      <p:sp>
        <p:nvSpPr>
          <p:cNvPr id="9" name="Canvas 2"/>
          <p:cNvSpPr/>
          <p:nvPr/>
        </p:nvSpPr>
        <p:spPr>
          <a:xfrm>
            <a:off x="548640" y="292608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nvas bar 2"/>
          <p:cNvSpPr/>
          <p:nvPr/>
        </p:nvSpPr>
        <p:spPr>
          <a:xfrm>
            <a:off x="548640" y="292608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63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Channels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NGO partners, community health workers, WhatsApp voice notes, missed-call / IVR, QR posters at labour hubs.</a:t>
            </a:r>
            <a:endParaRPr lang="en-US" sz="1250" dirty="0"/>
          </a:p>
        </p:txBody>
      </p:sp>
      <p:sp>
        <p:nvSpPr>
          <p:cNvPr id="12" name="Canvas 3"/>
          <p:cNvSpPr/>
          <p:nvPr/>
        </p:nvSpPr>
        <p:spPr>
          <a:xfrm>
            <a:off x="4663440" y="292608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nvas bar 3"/>
          <p:cNvSpPr/>
          <p:nvPr/>
        </p:nvSpPr>
        <p:spPr>
          <a:xfrm>
            <a:off x="4663440" y="292608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063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Revenue and costs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CSR grants and dashboard subscriptions. Pilot cost is zero on free and open-source tools.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From prototype to partner pilot</a:t>
            </a:r>
            <a:endParaRPr lang="en-US" sz="2600" dirty="0"/>
          </a:p>
        </p:txBody>
      </p:sp>
      <p:sp>
        <p:nvSpPr>
          <p:cNvPr id="3" name="Phase 0"/>
          <p:cNvSpPr/>
          <p:nvPr/>
        </p:nvSpPr>
        <p:spPr>
          <a:xfrm>
            <a:off x="548640" y="1325880"/>
            <a:ext cx="14630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Weeks 1-3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325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Working demo: voice or text check-in, scoring, tiers, referral screen</a:t>
            </a:r>
            <a:endParaRPr lang="en-US" sz="1400" dirty="0"/>
          </a:p>
        </p:txBody>
      </p:sp>
      <p:sp>
        <p:nvSpPr>
          <p:cNvPr id="6" name="Phase 1"/>
          <p:cNvSpPr/>
          <p:nvPr/>
        </p:nvSpPr>
        <p:spPr>
          <a:xfrm>
            <a:off x="548640" y="1892808"/>
            <a:ext cx="14630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92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Weeks 4-6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892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classifier, RAG knowledge base, multi-agent flow</a:t>
            </a:r>
            <a:endParaRPr lang="en-US" sz="1400" dirty="0"/>
          </a:p>
        </p:txBody>
      </p:sp>
      <p:sp>
        <p:nvSpPr>
          <p:cNvPr id="9" name="Phase 2"/>
          <p:cNvSpPr/>
          <p:nvPr/>
        </p:nvSpPr>
        <p:spPr>
          <a:xfrm>
            <a:off x="548640" y="2459736"/>
            <a:ext cx="14630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Weeks 7-8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4597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Hindi plus one regional language with open-source speech-to-text</a:t>
            </a:r>
            <a:endParaRPr lang="en-US" sz="1400" dirty="0"/>
          </a:p>
        </p:txBody>
      </p:sp>
      <p:sp>
        <p:nvSpPr>
          <p:cNvPr id="12" name="Phase 3"/>
          <p:cNvSpPr/>
          <p:nvPr/>
        </p:nvSpPr>
        <p:spPr>
          <a:xfrm>
            <a:off x="548640" y="3026664"/>
            <a:ext cx="14630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266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Weeks 9-10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0266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Anonymized NGO dashboard, consent flow, professional review</a:t>
            </a:r>
            <a:endParaRPr lang="en-US" sz="1400" dirty="0"/>
          </a:p>
        </p:txBody>
      </p:sp>
      <p:sp>
        <p:nvSpPr>
          <p:cNvPr id="15" name="Phase 4"/>
          <p:cNvSpPr/>
          <p:nvPr/>
        </p:nvSpPr>
        <p:spPr>
          <a:xfrm>
            <a:off x="548640" y="3593592"/>
            <a:ext cx="146304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935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After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593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pilot with an NGO or CSR partner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MannMitra strengthens the human mental health services India already has.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nMitra">
  <a:themeElements>
    <a:clrScheme name="MannMitra">
      <a:dk1>
        <a:srgbClr val="222222"/>
      </a:dk1>
      <a:lt1>
        <a:srgbClr val="FFFFFF"/>
      </a:lt1>
      <a:dk2>
        <a:srgbClr val="1F3A4D"/>
      </a:dk2>
      <a:lt2>
        <a:srgbClr val="F2F6F5"/>
      </a:lt2>
      <a:accent1>
        <a:srgbClr val="1F7A70"/>
      </a:accent1>
      <a:accent2>
        <a:srgbClr val="D9902F"/>
      </a:accent2>
      <a:accent3>
        <a:srgbClr val="C0503A"/>
      </a:accent3>
      <a:accent4>
        <a:srgbClr val="4F86B0"/>
      </a:accent4>
      <a:accent5>
        <a:srgbClr val="76699F"/>
      </a:accent5>
      <a:accent6>
        <a:srgbClr val="8AA29E"/>
      </a:accent6>
      <a:hlink>
        <a:srgbClr val="1F7A70"/>
      </a:hlink>
      <a:folHlink>
        <a:srgbClr val="76699F"/>
      </a:folHlink>
    </a:clrScheme>
    <a:fontScheme name="MannMitra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MannMitra</dc:title>
  <dc:subject>PptxGenJS Presentation</dc:subject>
  <dc:creator>PptxGenJS</dc:creator>
  <cp:lastModifiedBy>PptxGenJS</cp:lastModifiedBy>
  <cp:revision>1</cp:revision>
  <dcterms:created xsi:type="dcterms:W3CDTF">2026-10-17T10:14:54Z</dcterms:created>
  <dcterms:modified xsi:type="dcterms:W3CDTF">2026-10-17T10:14:54Z</dcterms:modified>
</cp:coreProperties>
</file>